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meisternrw/bauzeit-und-witterung-beim-holzbau/" TargetMode="External"/><Relationship Id="rId3" Type="http://schemas.openxmlformats.org/officeDocument/2006/relationships/hyperlink" Target="https://holzundhaus.github.io/holzmeisternrw/dateien/minimax-a715463c3ed074f9986248f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Bauzeit und Witterung beim Holzbau: Jahreszeiten realistisch einplanen · Erklärende Präsentation</a:t>
            </a:r>
          </a:p>
        </p:txBody>
      </p:sp>
      <p:sp>
        <p:nvSpPr>
          <p:cNvPr id="3" name="Content Placeholder 2"/>
          <p:cNvSpPr>
            <a:spLocks noGrp="1"/>
          </p:cNvSpPr>
          <p:nvPr>
            <p:ph idx="1"/>
          </p:nvPr>
        </p:nvSpPr>
        <p:spPr/>
        <p:txBody>
          <a:bodyPr/>
          <a:lstStyle/>
          <a:p>
            <a:r>
              <a:t>Überblick: Bei einer Carport- oder Terrassenüberdachung in Essen gehören Regenwasser, Holzschutz und die Nutzung während des Betriebs zu denselben Planungsfragen. Denn Flächen, die später begrünt, frequentiert oder überdacht werden sollen, benötigen einen durchdachten Wasserlauf und einen robusten Unterbau. Zugleich müssen dauerhafte Witterungsschutzmaßnahmen während Montage und Nutzung berücksichtigt werden. Ein früher Austausch zwischen Bauherrschaft und Fachbetrieb verhindert unnötige Nacharbeiten. Weitere Hinweise zur Verbindung von Regenwasser, Überdachung und Holzbau finden sich in den [Planungsimpulsen zu Regenwasser, Carport und Terra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vor der Gestaltung einordnen</a:t>
            </a:r>
          </a:p>
        </p:txBody>
      </p:sp>
      <p:sp>
        <p:nvSpPr>
          <p:cNvPr id="3" name="Content Placeholder 2"/>
          <p:cNvSpPr>
            <a:spLocks noGrp="1"/>
          </p:cNvSpPr>
          <p:nvPr>
            <p:ph idx="1"/>
          </p:nvPr>
        </p:nvSpPr>
        <p:spPr/>
        <p:txBody>
          <a:bodyPr/>
          <a:lstStyle/>
          <a:p>
            <a:pPr>
              <a:defRPr sz="1800"/>
            </a:pPr>
            <a:r>
              <a:t>Vor der Planung sollte geklärt werden, wo Regenwasser im Alltag tatsächlich anfällt und wohin es abfließen soll. Beim Carport betrifft das die Fahrfläche, Befestigung und angrenzende Vegetation. Bei einer Terrassenüberdachung spielen Gefälle, Tropfkanten und der Wasserablauf eine zentrale Rolle. Wichtig ist außerdem, dass Unterkonstruktion und Holzbelege nicht dauerhaft in feuchten Zonen stehen. Die [Satelliten-Quelle zu Regenwasser, Carport und Terrassenüberdachung in Essen](https://holzundhaus.github.io/1aholzbauessen/satellite-publisher/regenwasser-carport-terrassenueberdachung-essen/) bietet einen thematischen Einstieg in diese planerisch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vor der Gestaltung einordnen</a:t>
            </a:r>
          </a:p>
        </p:txBody>
      </p:sp>
      <p:sp>
        <p:nvSpPr>
          <p:cNvPr id="3" name="Content Placeholder 2"/>
          <p:cNvSpPr>
            <a:spLocks noGrp="1"/>
          </p:cNvSpPr>
          <p:nvPr>
            <p:ph idx="1"/>
          </p:nvPr>
        </p:nvSpPr>
        <p:spPr/>
        <p:txBody>
          <a:bodyPr/>
          <a:lstStyle/>
          <a:p>
            <a:pPr>
              <a:defRPr sz="1800"/>
            </a:pPr>
            <a:r>
              <a:t>en Zusammenhänge.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Unterbau und Materialien aufeinander abstimmen</a:t>
            </a:r>
          </a:p>
        </p:txBody>
      </p:sp>
      <p:sp>
        <p:nvSpPr>
          <p:cNvPr id="3" name="Content Placeholder 2"/>
          <p:cNvSpPr>
            <a:spLocks noGrp="1"/>
          </p:cNvSpPr>
          <p:nvPr>
            <p:ph idx="1"/>
          </p:nvPr>
        </p:nvSpPr>
        <p:spPr/>
        <p:txBody>
          <a:bodyPr/>
          <a:lstStyle/>
          <a:p>
            <a:pPr>
              <a:defRPr sz="1800"/>
            </a:pPr>
            <a:r>
              <a:t>Ein befestigter Untergrund muss die gewünschte Nutzung und die vorhandenen Baugrundverhältnisse berücksichtigen. Häufig entscheidet bereits die Wahl des Unterbaus darüber, ob Wasser zeitweise stehen bleibt, in den Untergrund sickert oder gezielt abgeführt wird. Holzbauteile sollten nicht dauerhaft unmittelbar auf feuchtigkeitsbelasteten Flächen lagern. Zugleich ist auf ausreichende Luftführung und die zugängliche Entwässerung zu achten. Metallische Verbindungsmittel, Holz und Schutzschichten wirken unterschiedlich auf die Feuchteentwicklung. Diese Wechselwirkungen gehören daher in die Abstimmung zwischen Fachbetrieb, Bauherrschaft und erforde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Unterbau und Materialien aufeinander abstimmen</a:t>
            </a:r>
          </a:p>
        </p:txBody>
      </p:sp>
      <p:sp>
        <p:nvSpPr>
          <p:cNvPr id="3" name="Content Placeholder 2"/>
          <p:cNvSpPr>
            <a:spLocks noGrp="1"/>
          </p:cNvSpPr>
          <p:nvPr>
            <p:ph idx="1"/>
          </p:nvPr>
        </p:nvSpPr>
        <p:spPr/>
        <p:txBody>
          <a:bodyPr/>
          <a:lstStyle/>
          <a:p>
            <a:pPr>
              <a:defRPr sz="1800"/>
            </a:pPr>
            <a:r>
              <a:t>rlichen weiteren Gewerken.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Regenschutz während Bau und Nutzung</a:t>
            </a:r>
          </a:p>
        </p:txBody>
      </p:sp>
      <p:sp>
        <p:nvSpPr>
          <p:cNvPr id="3" name="Content Placeholder 2"/>
          <p:cNvSpPr>
            <a:spLocks noGrp="1"/>
          </p:cNvSpPr>
          <p:nvPr>
            <p:ph idx="1"/>
          </p:nvPr>
        </p:nvSpPr>
        <p:spPr/>
        <p:txBody>
          <a:bodyPr/>
          <a:lstStyle/>
          <a:p>
            <a:pPr>
              <a:defRPr sz="1800"/>
            </a:pPr>
            <a:r>
              <a:t>Regen kann einen Rohbau oder eine bereits montierte Überdachung deutlich belasten. Schutzplanen, temporäre Abdeckungen und eine trockene Lagerfläche für noch nicht verbaute Hölzer gehören deshalb zur Montageplanung. Der Ablauf sollte gewährleisten, dass offene Bereiche nur kurze Zeit ungeschützt bleiben. Nach der Fertigstellung sind wiederkehrende Kontrollen sinnvoll: Abläufe, Rinnen, Anschlusspunkte und sichtbare Holzflächen können durch Laub, Schmutz oder beschädigte Abdeckungen beeinträchtigt werden. Entscheidend ist ein funktionierender Ablauf, der nicht durch Bebauung, Aufstellflächen oder Bepflanzung eingeschränkt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Gestaltung und Winterdienst mitdenken</a:t>
            </a:r>
          </a:p>
        </p:txBody>
      </p:sp>
      <p:sp>
        <p:nvSpPr>
          <p:cNvPr id="3" name="Content Placeholder 2"/>
          <p:cNvSpPr>
            <a:spLocks noGrp="1"/>
          </p:cNvSpPr>
          <p:nvPr>
            <p:ph idx="1"/>
          </p:nvPr>
        </p:nvSpPr>
        <p:spPr/>
        <p:txBody>
          <a:bodyPr/>
          <a:lstStyle/>
          <a:p>
            <a:pPr>
              <a:defRPr sz="1800"/>
            </a:pPr>
            <a:r>
              <a:t>Carport und Terrassenüberdachung werden nicht nur als Schutzkonstruktion geplant. Stauraum, Sitzbereich, Beleuchtung, Fahrräder und Fahrzeuge bestimmen die erforderlichen Maße und Freiräume. Im Winter können Schnee, Eis und wechselnde Temperaturen die Nutzung einschränken. Wer diese Belastungen früh berücksichtigt, kann geeignete Flächen, robuste Aufbauten und einen unkomplizierten Räumungsablauf abstimmen. Grüngliederung ist ebenfalls sinnvoll: Pflanzen benötigen ausreichend Raum, Licht und eine Bodenlage, die nicht mit dauerhaft feuchten Holzflächen kollidiert.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Gut vorbereitet in die Ausführung starten</a:t>
            </a:r>
          </a:p>
        </p:txBody>
      </p:sp>
      <p:sp>
        <p:nvSpPr>
          <p:cNvPr id="3" name="Content Placeholder 2"/>
          <p:cNvSpPr>
            <a:spLocks noGrp="1"/>
          </p:cNvSpPr>
          <p:nvPr>
            <p:ph idx="1"/>
          </p:nvPr>
        </p:nvSpPr>
        <p:spPr/>
        <p:txBody>
          <a:bodyPr/>
          <a:lstStyle/>
          <a:p>
            <a:pPr>
              <a:defRPr sz="1800"/>
            </a:pPr>
            <a:r>
              <a:t>Für ein belastbares Gespräch helfen konkrete Angaben zur Nutzung, zur gewünschten Überdachung, zur vorhandenen Befestigung sowie zu den Wegen für Fahrzeuge oder Materialtransport. Offene Punkte sollten vor dem Montagestart geklärt sein: Wo wird Wasser abgeführt, wo können Bauteile trocken gelagert werden und welche Flächen bleiben während der Arbeiten ungeschützt? So lässt sich die Konstruktion auf die tatsächlichen Anforderungen abstimmen und der Bauablauf um witterungsbedingte Verzögerungen ergänzen, ohne pauschal davon auszugehen, dass ein bestimmter Zeitraum sicher einzuhalten 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Bauzeit und Witterung beim Holzbau: Jahreszeiten realistisch einplanen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